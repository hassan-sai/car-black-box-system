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402559bee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402559bee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402559be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402559be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02559bee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02559bee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40611d42b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40611d42b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40611d42b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40611d42b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40611d42b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40611d42b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40611d42b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40611d42b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40611d42b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40611d42b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40611d42b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40611d42b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40611d42b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40611d42b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87900" y="433150"/>
            <a:ext cx="8520600" cy="987300"/>
          </a:xfrm>
          <a:prstGeom prst="rect">
            <a:avLst/>
          </a:prstGeom>
          <a:solidFill>
            <a:schemeClr val="lt1"/>
          </a:solidFill>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A64D79"/>
                </a:solidFill>
                <a:highlight>
                  <a:schemeClr val="lt1"/>
                </a:highlight>
              </a:rPr>
              <a:t>CAR BLACK BOX</a:t>
            </a:r>
            <a:endParaRPr>
              <a:solidFill>
                <a:srgbClr val="A64D79"/>
              </a:solidFill>
              <a:highlight>
                <a:schemeClr val="lt1"/>
              </a:highlight>
            </a:endParaRPr>
          </a:p>
        </p:txBody>
      </p:sp>
      <p:sp>
        <p:nvSpPr>
          <p:cNvPr id="55" name="Google Shape;55;p13"/>
          <p:cNvSpPr txBox="1"/>
          <p:nvPr>
            <p:ph idx="1" type="subTitle"/>
          </p:nvPr>
        </p:nvSpPr>
        <p:spPr>
          <a:xfrm>
            <a:off x="2570225" y="24866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solidFill>
                  <a:srgbClr val="1C4587"/>
                </a:solidFill>
              </a:rPr>
              <a:t>Powered by</a:t>
            </a:r>
            <a:endParaRPr>
              <a:solidFill>
                <a:srgbClr val="1C4587"/>
              </a:solidFill>
            </a:endParaRPr>
          </a:p>
        </p:txBody>
      </p:sp>
      <p:pic>
        <p:nvPicPr>
          <p:cNvPr id="56" name="Google Shape;56;p13"/>
          <p:cNvPicPr preferRelativeResize="0"/>
          <p:nvPr/>
        </p:nvPicPr>
        <p:blipFill rotWithShape="1">
          <a:blip r:embed="rId3">
            <a:alphaModFix/>
          </a:blip>
          <a:srcRect b="-2370" l="-13190" r="13189" t="2370"/>
          <a:stretch/>
        </p:blipFill>
        <p:spPr>
          <a:xfrm>
            <a:off x="4224650" y="3194391"/>
            <a:ext cx="4514850" cy="1632000"/>
          </a:xfrm>
          <a:prstGeom prst="rect">
            <a:avLst/>
          </a:prstGeom>
          <a:noFill/>
          <a:ln>
            <a:noFill/>
          </a:ln>
        </p:spPr>
      </p:pic>
      <p:sp>
        <p:nvSpPr>
          <p:cNvPr id="57" name="Google Shape;57;p13"/>
          <p:cNvSpPr txBox="1"/>
          <p:nvPr/>
        </p:nvSpPr>
        <p:spPr>
          <a:xfrm>
            <a:off x="232050" y="2612400"/>
            <a:ext cx="482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58" name="Google Shape;58;p13"/>
          <p:cNvPicPr preferRelativeResize="0"/>
          <p:nvPr/>
        </p:nvPicPr>
        <p:blipFill rotWithShape="1">
          <a:blip r:embed="rId4">
            <a:alphaModFix/>
          </a:blip>
          <a:srcRect b="10042" l="13180" r="13757" t="6825"/>
          <a:stretch/>
        </p:blipFill>
        <p:spPr>
          <a:xfrm>
            <a:off x="604375" y="2086375"/>
            <a:ext cx="3704174" cy="2349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Abstract</a:t>
            </a:r>
            <a:r>
              <a:rPr lang="en-GB">
                <a:solidFill>
                  <a:srgbClr val="FCE5CD"/>
                </a:solidFill>
              </a:rPr>
              <a:t> </a:t>
            </a:r>
            <a:endParaRPr>
              <a:solidFill>
                <a:srgbClr val="FCE5CD"/>
              </a:solidFill>
            </a:endParaRPr>
          </a:p>
        </p:txBody>
      </p:sp>
      <p:sp>
        <p:nvSpPr>
          <p:cNvPr id="64" name="Google Shape;64;p14"/>
          <p:cNvSpPr txBox="1"/>
          <p:nvPr>
            <p:ph idx="1" type="body"/>
          </p:nvPr>
        </p:nvSpPr>
        <p:spPr>
          <a:xfrm>
            <a:off x="311700" y="1152475"/>
            <a:ext cx="8520600" cy="3677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concept of Black Box is mainly heard by us in case of Aeroplanes. The purpose of Black Box can go beyond catastrophe analysis. Also known as an event data recorder (EDR) or Accident data recorder (ADR) the Black Box can be installed in some automobiles to record various events.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Need of this Black Box</a:t>
            </a:r>
            <a:endParaRPr>
              <a:solidFill>
                <a:srgbClr val="A64D79"/>
              </a:solidFill>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By considering today's busy life, everyone wants to reach the destination as soon as possible by ignoring the rules and regulations. By implementing a Black Box which would log critical activities on the car and take appropriate actions in case of rash driving.</a:t>
            </a:r>
            <a:endParaRPr/>
          </a:p>
          <a:p>
            <a:pPr indent="-342900" lvl="0" marL="457200" rtl="0" algn="l">
              <a:spcBef>
                <a:spcPts val="0"/>
              </a:spcBef>
              <a:spcAft>
                <a:spcPts val="0"/>
              </a:spcAft>
              <a:buSzPts val="1800"/>
              <a:buChar char="●"/>
            </a:pPr>
            <a:r>
              <a:rPr lang="en-GB"/>
              <a:t>As mentioned above the root cause of the negligence in the driving would be meeting the daily schedule and go off duty, or to earn extra money by illegal trips etc... So by implementing the mentioned solution it would be easy to keep track of how the vehicle is being used, handled and control the efficiency of the vehicle.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A64D79"/>
                </a:solidFill>
              </a:rPr>
              <a:t>Requirements</a:t>
            </a:r>
            <a:endParaRPr b="1">
              <a:solidFill>
                <a:srgbClr val="A64D79"/>
              </a:solidFill>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Default Screen</a:t>
            </a:r>
            <a:endParaRPr/>
          </a:p>
          <a:p>
            <a:pPr indent="-342900" lvl="0" marL="457200" rtl="0" algn="l">
              <a:spcBef>
                <a:spcPts val="0"/>
              </a:spcBef>
              <a:spcAft>
                <a:spcPts val="0"/>
              </a:spcAft>
              <a:buSzPts val="1800"/>
              <a:buChar char="●"/>
            </a:pPr>
            <a:r>
              <a:rPr lang="en-GB"/>
              <a:t>Event capture</a:t>
            </a:r>
            <a:endParaRPr/>
          </a:p>
          <a:p>
            <a:pPr indent="-342900" lvl="0" marL="457200" rtl="0" algn="l">
              <a:spcBef>
                <a:spcPts val="0"/>
              </a:spcBef>
              <a:spcAft>
                <a:spcPts val="0"/>
              </a:spcAft>
              <a:buSzPts val="1800"/>
              <a:buChar char="●"/>
            </a:pPr>
            <a:r>
              <a:rPr lang="en-GB"/>
              <a:t>Login Screen</a:t>
            </a:r>
            <a:endParaRPr/>
          </a:p>
          <a:p>
            <a:pPr indent="-342900" lvl="0" marL="457200" rtl="0" algn="l">
              <a:spcBef>
                <a:spcPts val="0"/>
              </a:spcBef>
              <a:spcAft>
                <a:spcPts val="0"/>
              </a:spcAft>
              <a:buSzPts val="1800"/>
              <a:buChar char="●"/>
            </a:pPr>
            <a:r>
              <a:rPr lang="en-GB"/>
              <a:t>Main Menu</a:t>
            </a:r>
            <a:endParaRPr/>
          </a:p>
          <a:p>
            <a:pPr indent="-317500" lvl="1" marL="914400" rtl="0" algn="l">
              <a:spcBef>
                <a:spcPts val="0"/>
              </a:spcBef>
              <a:spcAft>
                <a:spcPts val="0"/>
              </a:spcAft>
              <a:buSzPts val="1400"/>
              <a:buChar char="○"/>
            </a:pPr>
            <a:r>
              <a:rPr lang="en-GB"/>
              <a:t>View Log</a:t>
            </a:r>
            <a:endParaRPr/>
          </a:p>
          <a:p>
            <a:pPr indent="-317500" lvl="1" marL="914400" rtl="0" algn="l">
              <a:spcBef>
                <a:spcPts val="0"/>
              </a:spcBef>
              <a:spcAft>
                <a:spcPts val="0"/>
              </a:spcAft>
              <a:buSzPts val="1400"/>
              <a:buChar char="○"/>
            </a:pPr>
            <a:r>
              <a:rPr lang="en-GB"/>
              <a:t>Set Time </a:t>
            </a:r>
            <a:endParaRPr/>
          </a:p>
          <a:p>
            <a:pPr indent="-317500" lvl="1" marL="914400" rtl="0" algn="l">
              <a:spcBef>
                <a:spcPts val="0"/>
              </a:spcBef>
              <a:spcAft>
                <a:spcPts val="0"/>
              </a:spcAft>
              <a:buSzPts val="1400"/>
              <a:buChar char="○"/>
            </a:pPr>
            <a:r>
              <a:rPr lang="en-GB"/>
              <a:t>Download Log</a:t>
            </a:r>
            <a:endParaRPr/>
          </a:p>
          <a:p>
            <a:pPr indent="-317500" lvl="1" marL="914400" rtl="0" algn="l">
              <a:spcBef>
                <a:spcPts val="0"/>
              </a:spcBef>
              <a:spcAft>
                <a:spcPts val="0"/>
              </a:spcAft>
              <a:buSzPts val="1400"/>
              <a:buChar char="○"/>
            </a:pPr>
            <a:r>
              <a:rPr lang="en-GB"/>
              <a:t>Clear Log</a:t>
            </a:r>
            <a:endParaRPr/>
          </a:p>
          <a:p>
            <a:pPr indent="-317500" lvl="1" marL="914400" rtl="0" algn="l">
              <a:spcBef>
                <a:spcPts val="0"/>
              </a:spcBef>
              <a:spcAft>
                <a:spcPts val="0"/>
              </a:spcAft>
              <a:buSzPts val="1400"/>
              <a:buChar char="○"/>
            </a:pPr>
            <a:r>
              <a:rPr lang="en-GB"/>
              <a:t>Change Password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Default</a:t>
            </a:r>
            <a:r>
              <a:rPr lang="en-GB">
                <a:solidFill>
                  <a:srgbClr val="A64D79"/>
                </a:solidFill>
              </a:rPr>
              <a:t> screen</a:t>
            </a:r>
            <a:endParaRPr>
              <a:solidFill>
                <a:srgbClr val="A64D79"/>
              </a:solidFill>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When the system is in Operation Mode, it would act like a Dashboard which would show the current time, speed of vehicle and the latest occurred event.</a:t>
            </a:r>
            <a:endParaRPr/>
          </a:p>
          <a:p>
            <a:pPr indent="-342900" lvl="0" marL="457200" rtl="0" algn="l">
              <a:spcBef>
                <a:spcPts val="0"/>
              </a:spcBef>
              <a:spcAft>
                <a:spcPts val="0"/>
              </a:spcAft>
              <a:buSzPts val="1800"/>
              <a:buChar char="●"/>
            </a:pPr>
            <a:r>
              <a:rPr lang="en-GB"/>
              <a:t>The GEAR UP / GEAR DOWN key used to navigate events(Gears - GN, GR, G1, G2, G3, G4).</a:t>
            </a:r>
            <a:endParaRPr/>
          </a:p>
          <a:p>
            <a:pPr indent="-342900" lvl="0" marL="457200" rtl="0" algn="l">
              <a:spcBef>
                <a:spcPts val="0"/>
              </a:spcBef>
              <a:spcAft>
                <a:spcPts val="0"/>
              </a:spcAft>
              <a:buSzPts val="1800"/>
              <a:buChar char="●"/>
            </a:pPr>
            <a:r>
              <a:rPr lang="en-GB"/>
              <a:t>Collision key used for Collision event(C).</a:t>
            </a:r>
            <a:endParaRPr/>
          </a:p>
          <a:p>
            <a:pPr indent="0" lvl="0" marL="0" rtl="0" algn="l">
              <a:spcBef>
                <a:spcPts val="1200"/>
              </a:spcBef>
              <a:spcAft>
                <a:spcPts val="1200"/>
              </a:spcAft>
              <a:buNone/>
            </a:pPr>
            <a:r>
              <a:t/>
            </a:r>
            <a:endParaRPr/>
          </a:p>
        </p:txBody>
      </p:sp>
      <p:pic>
        <p:nvPicPr>
          <p:cNvPr id="83" name="Google Shape;83;p17"/>
          <p:cNvPicPr preferRelativeResize="0"/>
          <p:nvPr/>
        </p:nvPicPr>
        <p:blipFill rotWithShape="1">
          <a:blip r:embed="rId3">
            <a:alphaModFix/>
          </a:blip>
          <a:srcRect b="16447" l="17964" r="17693" t="15134"/>
          <a:stretch/>
        </p:blipFill>
        <p:spPr>
          <a:xfrm>
            <a:off x="2665025" y="3069125"/>
            <a:ext cx="2941900" cy="1355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214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Event capture</a:t>
            </a:r>
            <a:endParaRPr>
              <a:solidFill>
                <a:srgbClr val="A64D79"/>
              </a:solidFill>
            </a:endParaRPr>
          </a:p>
        </p:txBody>
      </p:sp>
      <p:sp>
        <p:nvSpPr>
          <p:cNvPr id="89" name="Google Shape;89;p18"/>
          <p:cNvSpPr txBox="1"/>
          <p:nvPr>
            <p:ph idx="1" type="body"/>
          </p:nvPr>
        </p:nvSpPr>
        <p:spPr>
          <a:xfrm>
            <a:off x="311700" y="559700"/>
            <a:ext cx="8520600" cy="400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Char char="●"/>
            </a:pPr>
            <a:r>
              <a:rPr lang="en-GB"/>
              <a:t>Required events have to be captured and stored in the External EEPROM memory</a:t>
            </a:r>
            <a:endParaRPr/>
          </a:p>
          <a:p>
            <a:pPr indent="-342900" lvl="0" marL="457200" rtl="0" algn="l">
              <a:spcBef>
                <a:spcPts val="0"/>
              </a:spcBef>
              <a:spcAft>
                <a:spcPts val="0"/>
              </a:spcAft>
              <a:buSzPts val="1800"/>
              <a:buChar char="●"/>
            </a:pPr>
            <a:r>
              <a:rPr lang="en-GB"/>
              <a:t>Every event should have a format as “EVENT TIME” “EVENT SIGNATURE”</a:t>
            </a:r>
            <a:endParaRPr/>
          </a:p>
          <a:p>
            <a:pPr indent="-342900" lvl="0" marL="457200" rtl="0" algn="l">
              <a:spcBef>
                <a:spcPts val="0"/>
              </a:spcBef>
              <a:spcAft>
                <a:spcPts val="0"/>
              </a:spcAft>
              <a:buSzPts val="1800"/>
              <a:buChar char="●"/>
            </a:pPr>
            <a:r>
              <a:rPr lang="en-GB"/>
              <a:t>“SPEED AT THE EVENT”</a:t>
            </a:r>
            <a:endParaRPr/>
          </a:p>
          <a:p>
            <a:pPr indent="-342900" lvl="0" marL="457200" rtl="0" algn="l">
              <a:spcBef>
                <a:spcPts val="0"/>
              </a:spcBef>
              <a:spcAft>
                <a:spcPts val="0"/>
              </a:spcAft>
              <a:buSzPts val="1800"/>
              <a:buChar char="●"/>
            </a:pPr>
            <a:r>
              <a:rPr lang="en-GB"/>
              <a:t>The events should be captured real time, no matter which mode you are in</a:t>
            </a:r>
            <a:endParaRPr/>
          </a:p>
          <a:p>
            <a:pPr indent="-342900" lvl="0" marL="457200" rtl="0" algn="l">
              <a:spcBef>
                <a:spcPts val="0"/>
              </a:spcBef>
              <a:spcAft>
                <a:spcPts val="0"/>
              </a:spcAft>
              <a:buSzPts val="1800"/>
              <a:buChar char="●"/>
            </a:pPr>
            <a:r>
              <a:rPr lang="en-GB"/>
              <a:t>example : You are in download log also event should store in EEPROM memory.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Login screen</a:t>
            </a:r>
            <a:endParaRPr>
              <a:solidFill>
                <a:srgbClr val="A64D79"/>
              </a:solidFill>
            </a:endParaRPr>
          </a:p>
        </p:txBody>
      </p:sp>
      <p:sp>
        <p:nvSpPr>
          <p:cNvPr id="95" name="Google Shape;95;p19"/>
          <p:cNvSpPr txBox="1"/>
          <p:nvPr>
            <p:ph idx="1" type="body"/>
          </p:nvPr>
        </p:nvSpPr>
        <p:spPr>
          <a:xfrm>
            <a:off x="311700" y="1152475"/>
            <a:ext cx="5267700" cy="3614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On press of the UP or DOWN (User Keys) keys the system should prompt for password</a:t>
            </a:r>
            <a:endParaRPr/>
          </a:p>
          <a:p>
            <a:pPr indent="-342900" lvl="0" marL="457200" rtl="0" algn="l">
              <a:spcBef>
                <a:spcPts val="0"/>
              </a:spcBef>
              <a:spcAft>
                <a:spcPts val="0"/>
              </a:spcAft>
              <a:buSzPts val="1800"/>
              <a:buChar char="●"/>
            </a:pPr>
            <a:r>
              <a:rPr lang="en-GB"/>
              <a:t>The password would be the combination of 4 presses (User Keys).</a:t>
            </a:r>
            <a:endParaRPr/>
          </a:p>
          <a:p>
            <a:pPr indent="-342900" lvl="0" marL="457200" rtl="0" algn="l">
              <a:spcBef>
                <a:spcPts val="0"/>
              </a:spcBef>
              <a:spcAft>
                <a:spcPts val="0"/>
              </a:spcAft>
              <a:buSzPts val="1800"/>
              <a:buChar char="●"/>
            </a:pPr>
            <a:r>
              <a:rPr lang="en-GB"/>
              <a:t>Each press should be denoted a "*" symbol</a:t>
            </a:r>
            <a:endParaRPr/>
          </a:p>
          <a:p>
            <a:pPr indent="-342900" lvl="0" marL="457200" rtl="0" algn="l">
              <a:spcBef>
                <a:spcPts val="0"/>
              </a:spcBef>
              <a:spcAft>
                <a:spcPts val="0"/>
              </a:spcAft>
              <a:buSzPts val="1800"/>
              <a:buChar char="●"/>
            </a:pPr>
            <a:r>
              <a:rPr lang="en-GB"/>
              <a:t>Every wrong entry would, re prompt for password (Max 3 times for every 15 minutes)</a:t>
            </a:r>
            <a:endParaRPr/>
          </a:p>
          <a:p>
            <a:pPr indent="-342900" lvl="0" marL="457200" rtl="0" algn="l">
              <a:spcBef>
                <a:spcPts val="0"/>
              </a:spcBef>
              <a:spcAft>
                <a:spcPts val="0"/>
              </a:spcAft>
              <a:buSzPts val="1800"/>
              <a:buChar char="●"/>
            </a:pPr>
            <a:r>
              <a:rPr lang="en-GB"/>
              <a:t>After 3 attempt user should be blocked for 2 minutes.</a:t>
            </a:r>
            <a:endParaRPr/>
          </a:p>
          <a:p>
            <a:pPr indent="-342900" lvl="0" marL="457200" rtl="0" algn="l">
              <a:spcBef>
                <a:spcPts val="0"/>
              </a:spcBef>
              <a:spcAft>
                <a:spcPts val="0"/>
              </a:spcAft>
              <a:buSzPts val="1800"/>
              <a:buChar char="●"/>
            </a:pPr>
            <a:r>
              <a:rPr lang="en-GB"/>
              <a:t>Incomplete key press (pause of 3 seconds) would lead to Default Screen</a:t>
            </a:r>
            <a:endParaRPr/>
          </a:p>
        </p:txBody>
      </p:sp>
      <p:pic>
        <p:nvPicPr>
          <p:cNvPr id="96" name="Google Shape;96;p19"/>
          <p:cNvPicPr preferRelativeResize="0"/>
          <p:nvPr/>
        </p:nvPicPr>
        <p:blipFill rotWithShape="1">
          <a:blip r:embed="rId3">
            <a:alphaModFix/>
          </a:blip>
          <a:srcRect b="15902" l="14192" r="17145" t="10061"/>
          <a:stretch/>
        </p:blipFill>
        <p:spPr>
          <a:xfrm>
            <a:off x="5579400" y="1750475"/>
            <a:ext cx="3364075" cy="1619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A64D79"/>
                </a:solidFill>
              </a:rPr>
              <a:t>Main Menu</a:t>
            </a:r>
            <a:endParaRPr>
              <a:solidFill>
                <a:srgbClr val="A64D79"/>
              </a:solidFill>
            </a:endParaRPr>
          </a:p>
        </p:txBody>
      </p:sp>
      <p:sp>
        <p:nvSpPr>
          <p:cNvPr id="102" name="Google Shape;102;p20"/>
          <p:cNvSpPr txBox="1"/>
          <p:nvPr>
            <p:ph idx="1" type="body"/>
          </p:nvPr>
        </p:nvSpPr>
        <p:spPr>
          <a:xfrm>
            <a:off x="311700" y="1152475"/>
            <a:ext cx="5131800" cy="373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a:t>The main menu are</a:t>
            </a:r>
            <a:endParaRPr/>
          </a:p>
          <a:p>
            <a:pPr indent="-317500" lvl="1" marL="914400" rtl="0" algn="l">
              <a:spcBef>
                <a:spcPts val="0"/>
              </a:spcBef>
              <a:spcAft>
                <a:spcPts val="0"/>
              </a:spcAft>
              <a:buSzPts val="1400"/>
              <a:buChar char="○"/>
            </a:pPr>
            <a:r>
              <a:rPr lang="en-GB" sz="1400"/>
              <a:t>View Log</a:t>
            </a:r>
            <a:endParaRPr sz="1400"/>
          </a:p>
          <a:p>
            <a:pPr indent="-317500" lvl="1" marL="914400" rtl="0" algn="l">
              <a:spcBef>
                <a:spcPts val="0"/>
              </a:spcBef>
              <a:spcAft>
                <a:spcPts val="0"/>
              </a:spcAft>
              <a:buSzPts val="1400"/>
              <a:buChar char="○"/>
            </a:pPr>
            <a:r>
              <a:rPr lang="en-GB" sz="1400"/>
              <a:t>Set Time </a:t>
            </a:r>
            <a:endParaRPr sz="1400"/>
          </a:p>
          <a:p>
            <a:pPr indent="-317500" lvl="1" marL="914400" rtl="0" algn="l">
              <a:spcBef>
                <a:spcPts val="0"/>
              </a:spcBef>
              <a:spcAft>
                <a:spcPts val="0"/>
              </a:spcAft>
              <a:buSzPts val="1400"/>
              <a:buChar char="○"/>
            </a:pPr>
            <a:r>
              <a:rPr lang="en-GB" sz="1400"/>
              <a:t>Download Log</a:t>
            </a:r>
            <a:endParaRPr sz="1400"/>
          </a:p>
          <a:p>
            <a:pPr indent="-317500" lvl="1" marL="914400" rtl="0" algn="l">
              <a:spcBef>
                <a:spcPts val="0"/>
              </a:spcBef>
              <a:spcAft>
                <a:spcPts val="0"/>
              </a:spcAft>
              <a:buSzPts val="1400"/>
              <a:buChar char="○"/>
            </a:pPr>
            <a:r>
              <a:rPr lang="en-GB" sz="1400"/>
              <a:t>Clear Log</a:t>
            </a:r>
            <a:endParaRPr sz="1400"/>
          </a:p>
          <a:p>
            <a:pPr indent="-317500" lvl="1" marL="914400" rtl="0" algn="l">
              <a:spcBef>
                <a:spcPts val="0"/>
              </a:spcBef>
              <a:spcAft>
                <a:spcPts val="0"/>
              </a:spcAft>
              <a:buSzPts val="1400"/>
              <a:buChar char="○"/>
            </a:pPr>
            <a:r>
              <a:rPr lang="en-GB" sz="1400"/>
              <a:t>Change Password</a:t>
            </a:r>
            <a:endParaRPr/>
          </a:p>
          <a:p>
            <a:pPr indent="-342900" lvl="0" marL="457200" rtl="0" algn="l">
              <a:spcBef>
                <a:spcPts val="0"/>
              </a:spcBef>
              <a:spcAft>
                <a:spcPts val="0"/>
              </a:spcAft>
              <a:buSzPts val="1800"/>
              <a:buChar char="●"/>
            </a:pPr>
            <a:r>
              <a:rPr lang="en-GB"/>
              <a:t>The main menu should contain 2 option</a:t>
            </a:r>
            <a:endParaRPr/>
          </a:p>
          <a:p>
            <a:pPr indent="-317500" lvl="1" marL="914400" rtl="0" algn="l">
              <a:spcBef>
                <a:spcPts val="0"/>
              </a:spcBef>
              <a:spcAft>
                <a:spcPts val="0"/>
              </a:spcAft>
              <a:buSzPts val="1400"/>
              <a:buChar char="○"/>
            </a:pPr>
            <a:r>
              <a:rPr lang="en-GB"/>
              <a:t>View Log</a:t>
            </a:r>
            <a:endParaRPr/>
          </a:p>
          <a:p>
            <a:pPr indent="-317500" lvl="1" marL="914400" rtl="0" algn="l">
              <a:spcBef>
                <a:spcPts val="0"/>
              </a:spcBef>
              <a:spcAft>
                <a:spcPts val="0"/>
              </a:spcAft>
              <a:buSzPts val="1400"/>
              <a:buChar char="○"/>
            </a:pPr>
            <a:r>
              <a:rPr lang="en-GB"/>
              <a:t>Set Time</a:t>
            </a:r>
            <a:endParaRPr/>
          </a:p>
          <a:p>
            <a:pPr indent="-342900" lvl="0" marL="457200" rtl="0" algn="l">
              <a:spcBef>
                <a:spcPts val="0"/>
              </a:spcBef>
              <a:spcAft>
                <a:spcPts val="0"/>
              </a:spcAft>
              <a:buSzPts val="1800"/>
              <a:buChar char="●"/>
            </a:pPr>
            <a:r>
              <a:rPr lang="en-GB"/>
              <a:t>The UP / DOWN keys are used to navigate</a:t>
            </a:r>
            <a:endParaRPr/>
          </a:p>
          <a:p>
            <a:pPr indent="-342900" lvl="0" marL="457200" rtl="0" algn="l">
              <a:spcBef>
                <a:spcPts val="0"/>
              </a:spcBef>
              <a:spcAft>
                <a:spcPts val="0"/>
              </a:spcAft>
              <a:buSzPts val="1800"/>
              <a:buChar char="●"/>
            </a:pPr>
            <a:r>
              <a:rPr lang="en-GB"/>
              <a:t>A long press of UP Key should enter the selected menu</a:t>
            </a:r>
            <a:endParaRPr/>
          </a:p>
          <a:p>
            <a:pPr indent="-342900" lvl="0" marL="457200" rtl="0" algn="l">
              <a:spcBef>
                <a:spcPts val="0"/>
              </a:spcBef>
              <a:spcAft>
                <a:spcPts val="0"/>
              </a:spcAft>
              <a:buSzPts val="1800"/>
              <a:buChar char="●"/>
            </a:pPr>
            <a:r>
              <a:rPr lang="en-GB"/>
              <a:t>A long press of DOWN Key should logout</a:t>
            </a:r>
            <a:endParaRPr/>
          </a:p>
          <a:p>
            <a:pPr indent="0" lvl="0" marL="0" rtl="0" algn="l">
              <a:spcBef>
                <a:spcPts val="1200"/>
              </a:spcBef>
              <a:spcAft>
                <a:spcPts val="1200"/>
              </a:spcAft>
              <a:buNone/>
            </a:pPr>
            <a:r>
              <a:t/>
            </a:r>
            <a:endParaRPr/>
          </a:p>
        </p:txBody>
      </p:sp>
      <p:pic>
        <p:nvPicPr>
          <p:cNvPr id="103" name="Google Shape;103;p20"/>
          <p:cNvPicPr preferRelativeResize="0"/>
          <p:nvPr/>
        </p:nvPicPr>
        <p:blipFill rotWithShape="1">
          <a:blip r:embed="rId3">
            <a:alphaModFix/>
          </a:blip>
          <a:srcRect b="16669" l="19906" r="18521" t="12819"/>
          <a:stretch/>
        </p:blipFill>
        <p:spPr>
          <a:xfrm>
            <a:off x="5706600" y="660425"/>
            <a:ext cx="2815175" cy="1397000"/>
          </a:xfrm>
          <a:prstGeom prst="rect">
            <a:avLst/>
          </a:prstGeom>
          <a:noFill/>
          <a:ln>
            <a:noFill/>
          </a:ln>
        </p:spPr>
      </p:pic>
      <p:pic>
        <p:nvPicPr>
          <p:cNvPr id="104" name="Google Shape;104;p20"/>
          <p:cNvPicPr preferRelativeResize="0"/>
          <p:nvPr/>
        </p:nvPicPr>
        <p:blipFill rotWithShape="1">
          <a:blip r:embed="rId4">
            <a:alphaModFix/>
          </a:blip>
          <a:srcRect b="15815" l="18748" r="18060" t="13672"/>
          <a:stretch/>
        </p:blipFill>
        <p:spPr>
          <a:xfrm>
            <a:off x="5632525" y="2571750"/>
            <a:ext cx="2889250" cy="1397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396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1155CC"/>
                </a:solidFill>
              </a:rPr>
              <a:t>View log</a:t>
            </a:r>
            <a:endParaRPr>
              <a:solidFill>
                <a:srgbClr val="1155CC"/>
              </a:solidFill>
            </a:endParaRPr>
          </a:p>
        </p:txBody>
      </p:sp>
      <p:sp>
        <p:nvSpPr>
          <p:cNvPr id="110" name="Google Shape;110;p21"/>
          <p:cNvSpPr txBox="1"/>
          <p:nvPr>
            <p:ph idx="1" type="body"/>
          </p:nvPr>
        </p:nvSpPr>
        <p:spPr>
          <a:xfrm>
            <a:off x="466650" y="969650"/>
            <a:ext cx="52278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In this view log whatever events you stored that should display in CLCD.</a:t>
            </a:r>
            <a:endParaRPr/>
          </a:p>
          <a:p>
            <a:pPr indent="-342900" lvl="0" marL="457200" rtl="0" algn="l">
              <a:spcBef>
                <a:spcPts val="0"/>
              </a:spcBef>
              <a:spcAft>
                <a:spcPts val="0"/>
              </a:spcAft>
              <a:buSzPts val="1800"/>
              <a:buChar char="●"/>
            </a:pPr>
            <a:r>
              <a:rPr lang="en-GB"/>
              <a:t>The UP / DOWN keys are used to navigate.</a:t>
            </a:r>
            <a:endParaRPr/>
          </a:p>
          <a:p>
            <a:pPr indent="-342900" lvl="0" marL="457200" rtl="0" algn="l">
              <a:spcBef>
                <a:spcPts val="0"/>
              </a:spcBef>
              <a:spcAft>
                <a:spcPts val="0"/>
              </a:spcAft>
              <a:buSzPts val="1800"/>
              <a:buChar char="●"/>
            </a:pPr>
            <a:r>
              <a:rPr lang="en-GB"/>
              <a:t>A long press of DOWN Key should logout.</a:t>
            </a:r>
            <a:endParaRPr/>
          </a:p>
          <a:p>
            <a:pPr indent="0" lvl="0" marL="0" rtl="0" algn="l">
              <a:spcBef>
                <a:spcPts val="1200"/>
              </a:spcBef>
              <a:spcAft>
                <a:spcPts val="1200"/>
              </a:spcAft>
              <a:buNone/>
            </a:pPr>
            <a:r>
              <a:t/>
            </a:r>
            <a:endParaRPr/>
          </a:p>
        </p:txBody>
      </p:sp>
      <p:pic>
        <p:nvPicPr>
          <p:cNvPr id="111" name="Google Shape;111;p21"/>
          <p:cNvPicPr preferRelativeResize="0"/>
          <p:nvPr/>
        </p:nvPicPr>
        <p:blipFill rotWithShape="1">
          <a:blip r:embed="rId3">
            <a:alphaModFix/>
          </a:blip>
          <a:srcRect b="11856" l="16994" r="16802" t="12288"/>
          <a:stretch/>
        </p:blipFill>
        <p:spPr>
          <a:xfrm>
            <a:off x="5878500" y="969650"/>
            <a:ext cx="3026825" cy="1502825"/>
          </a:xfrm>
          <a:prstGeom prst="rect">
            <a:avLst/>
          </a:prstGeom>
          <a:noFill/>
          <a:ln>
            <a:noFill/>
          </a:ln>
        </p:spPr>
      </p:pic>
      <p:sp>
        <p:nvSpPr>
          <p:cNvPr id="112" name="Google Shape;112;p21"/>
          <p:cNvSpPr txBox="1"/>
          <p:nvPr>
            <p:ph type="title"/>
          </p:nvPr>
        </p:nvSpPr>
        <p:spPr>
          <a:xfrm>
            <a:off x="311700" y="2572313"/>
            <a:ext cx="8520600" cy="24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1155CC"/>
                </a:solidFill>
              </a:rPr>
              <a:t>Set time</a:t>
            </a:r>
            <a:endParaRPr>
              <a:solidFill>
                <a:srgbClr val="1155CC"/>
              </a:solidFill>
            </a:endParaRPr>
          </a:p>
        </p:txBody>
      </p:sp>
      <p:sp>
        <p:nvSpPr>
          <p:cNvPr id="113" name="Google Shape;113;p21"/>
          <p:cNvSpPr txBox="1"/>
          <p:nvPr>
            <p:ph idx="1" type="body"/>
          </p:nvPr>
        </p:nvSpPr>
        <p:spPr>
          <a:xfrm>
            <a:off x="466650" y="3119265"/>
            <a:ext cx="4997100" cy="1488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UP key - Field change</a:t>
            </a:r>
            <a:endParaRPr/>
          </a:p>
          <a:p>
            <a:pPr indent="-342900" lvl="0" marL="457200" rtl="0" algn="l">
              <a:spcBef>
                <a:spcPts val="0"/>
              </a:spcBef>
              <a:spcAft>
                <a:spcPts val="0"/>
              </a:spcAft>
              <a:buSzPts val="1800"/>
              <a:buChar char="●"/>
            </a:pPr>
            <a:r>
              <a:rPr lang="en-GB"/>
              <a:t>DOWN key - Increment field</a:t>
            </a:r>
            <a:endParaRPr/>
          </a:p>
          <a:p>
            <a:pPr indent="-342900" lvl="0" marL="457200" rtl="0" algn="l">
              <a:spcBef>
                <a:spcPts val="0"/>
              </a:spcBef>
              <a:spcAft>
                <a:spcPts val="0"/>
              </a:spcAft>
              <a:buSzPts val="1800"/>
              <a:buChar char="●"/>
            </a:pPr>
            <a:r>
              <a:rPr lang="en-GB"/>
              <a:t>A long press of UP Key should set time.</a:t>
            </a:r>
            <a:endParaRPr/>
          </a:p>
          <a:p>
            <a:pPr indent="-342900" lvl="0" marL="457200" rtl="0" algn="l">
              <a:spcBef>
                <a:spcPts val="0"/>
              </a:spcBef>
              <a:spcAft>
                <a:spcPts val="0"/>
              </a:spcAft>
              <a:buSzPts val="1800"/>
              <a:buChar char="●"/>
            </a:pPr>
            <a:r>
              <a:rPr lang="en-GB"/>
              <a:t>A long press of DOWN Key should logout.</a:t>
            </a:r>
            <a:endParaRPr/>
          </a:p>
        </p:txBody>
      </p:sp>
      <p:pic>
        <p:nvPicPr>
          <p:cNvPr id="114" name="Google Shape;114;p21"/>
          <p:cNvPicPr preferRelativeResize="0"/>
          <p:nvPr/>
        </p:nvPicPr>
        <p:blipFill rotWithShape="1">
          <a:blip r:embed="rId4">
            <a:alphaModFix/>
          </a:blip>
          <a:srcRect b="12067" l="15940" r="16022" t="11991"/>
          <a:stretch/>
        </p:blipFill>
        <p:spPr>
          <a:xfrm>
            <a:off x="5849400" y="2921441"/>
            <a:ext cx="3030650" cy="1581775"/>
          </a:xfrm>
          <a:prstGeom prst="rect">
            <a:avLst/>
          </a:prstGeom>
          <a:noFill/>
          <a:ln>
            <a:noFill/>
          </a:ln>
        </p:spPr>
      </p:pic>
      <p:sp>
        <p:nvSpPr>
          <p:cNvPr id="115" name="Google Shape;115;p21"/>
          <p:cNvSpPr txBox="1"/>
          <p:nvPr/>
        </p:nvSpPr>
        <p:spPr>
          <a:xfrm>
            <a:off x="311700" y="3803263"/>
            <a:ext cx="553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1155CC"/>
                </a:solidFill>
              </a:rPr>
              <a:t>Download log</a:t>
            </a:r>
            <a:endParaRPr>
              <a:solidFill>
                <a:srgbClr val="1155CC"/>
              </a:solidFill>
            </a:endParaRPr>
          </a:p>
        </p:txBody>
      </p:sp>
      <p:sp>
        <p:nvSpPr>
          <p:cNvPr id="121" name="Google Shape;12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CLCD - </a:t>
            </a:r>
            <a:r>
              <a:rPr lang="en-GB"/>
              <a:t>Download</a:t>
            </a:r>
            <a:r>
              <a:rPr lang="en-GB"/>
              <a:t> log successful. </a:t>
            </a:r>
            <a:endParaRPr/>
          </a:p>
          <a:p>
            <a:pPr indent="0" lvl="0" marL="457200" rtl="0" algn="l">
              <a:spcBef>
                <a:spcPts val="1200"/>
              </a:spcBef>
              <a:spcAft>
                <a:spcPts val="0"/>
              </a:spcAft>
              <a:buNone/>
            </a:pPr>
            <a:r>
              <a:rPr lang="en-GB"/>
              <a:t>(Return to Menu screen)</a:t>
            </a:r>
            <a:endParaRPr/>
          </a:p>
          <a:p>
            <a:pPr indent="-342900" lvl="0" marL="457200" rtl="0" algn="l">
              <a:spcBef>
                <a:spcPts val="1200"/>
              </a:spcBef>
              <a:spcAft>
                <a:spcPts val="0"/>
              </a:spcAft>
              <a:buSzPts val="1800"/>
              <a:buChar char="●"/>
            </a:pPr>
            <a:r>
              <a:rPr lang="en-GB"/>
              <a:t>UART - Print all stored Logs.</a:t>
            </a:r>
            <a:endParaRPr/>
          </a:p>
        </p:txBody>
      </p:sp>
      <p:sp>
        <p:nvSpPr>
          <p:cNvPr id="122" name="Google Shape;122;p22"/>
          <p:cNvSpPr txBox="1"/>
          <p:nvPr/>
        </p:nvSpPr>
        <p:spPr>
          <a:xfrm>
            <a:off x="311700" y="2734225"/>
            <a:ext cx="37398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2500">
                <a:solidFill>
                  <a:srgbClr val="1155CC"/>
                </a:solidFill>
              </a:rPr>
              <a:t>Clear log</a:t>
            </a:r>
            <a:endParaRPr sz="2500">
              <a:solidFill>
                <a:srgbClr val="1155CC"/>
              </a:solidFill>
            </a:endParaRPr>
          </a:p>
          <a:p>
            <a:pPr indent="0" lvl="0" marL="0" rtl="0" algn="l">
              <a:spcBef>
                <a:spcPts val="0"/>
              </a:spcBef>
              <a:spcAft>
                <a:spcPts val="0"/>
              </a:spcAft>
              <a:buNone/>
            </a:pPr>
            <a:r>
              <a:t/>
            </a:r>
            <a:endParaRPr/>
          </a:p>
        </p:txBody>
      </p:sp>
      <p:sp>
        <p:nvSpPr>
          <p:cNvPr id="123" name="Google Shape;123;p22"/>
          <p:cNvSpPr txBox="1"/>
          <p:nvPr/>
        </p:nvSpPr>
        <p:spPr>
          <a:xfrm>
            <a:off x="311700" y="3455300"/>
            <a:ext cx="43263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GB" sz="1800">
                <a:solidFill>
                  <a:schemeClr val="dk2"/>
                </a:solidFill>
              </a:rPr>
              <a:t>All logs should be Cleared.</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GB" sz="1800">
                <a:solidFill>
                  <a:schemeClr val="dk2"/>
                </a:solidFill>
              </a:rPr>
              <a:t>CLCD - Clear log successful.</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1155CC"/>
                </a:solidFill>
              </a:rPr>
              <a:t>Change password</a:t>
            </a:r>
            <a:endParaRPr>
              <a:solidFill>
                <a:srgbClr val="1155CC"/>
              </a:solidFill>
            </a:endParaRPr>
          </a:p>
        </p:txBody>
      </p:sp>
      <p:sp>
        <p:nvSpPr>
          <p:cNvPr id="129" name="Google Shape;129;p23"/>
          <p:cNvSpPr txBox="1"/>
          <p:nvPr>
            <p:ph idx="1" type="body"/>
          </p:nvPr>
        </p:nvSpPr>
        <p:spPr>
          <a:xfrm>
            <a:off x="416825" y="11767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Read password and read confirm password.</a:t>
            </a:r>
            <a:endParaRPr/>
          </a:p>
          <a:p>
            <a:pPr indent="-342900" lvl="0" marL="457200" rtl="0" algn="l">
              <a:spcBef>
                <a:spcPts val="0"/>
              </a:spcBef>
              <a:spcAft>
                <a:spcPts val="0"/>
              </a:spcAft>
              <a:buSzPts val="1800"/>
              <a:buChar char="●"/>
            </a:pPr>
            <a:r>
              <a:rPr lang="en-GB"/>
              <a:t>On press of the UP or DOWN (User Keys) keys the system should prompt for password</a:t>
            </a:r>
            <a:endParaRPr/>
          </a:p>
          <a:p>
            <a:pPr indent="-342900" lvl="0" marL="457200" rtl="0" algn="l">
              <a:spcBef>
                <a:spcPts val="0"/>
              </a:spcBef>
              <a:spcAft>
                <a:spcPts val="0"/>
              </a:spcAft>
              <a:buSzPts val="1800"/>
              <a:buChar char="●"/>
            </a:pPr>
            <a:r>
              <a:rPr lang="en-GB"/>
              <a:t>The password would be the combination of 4 presses (User Keys).</a:t>
            </a:r>
            <a:endParaRPr/>
          </a:p>
          <a:p>
            <a:pPr indent="-342900" lvl="0" marL="457200" rtl="0" algn="l">
              <a:spcBef>
                <a:spcPts val="0"/>
              </a:spcBef>
              <a:spcAft>
                <a:spcPts val="0"/>
              </a:spcAft>
              <a:buSzPts val="1800"/>
              <a:buChar char="●"/>
            </a:pPr>
            <a:r>
              <a:rPr lang="en-GB"/>
              <a:t>Each press should be denoted a "*" symbol.</a:t>
            </a:r>
            <a:endParaRPr/>
          </a:p>
          <a:p>
            <a:pPr indent="-342900" lvl="0" marL="457200" rtl="0" algn="l">
              <a:spcBef>
                <a:spcPts val="0"/>
              </a:spcBef>
              <a:spcAft>
                <a:spcPts val="0"/>
              </a:spcAft>
              <a:buSzPts val="1800"/>
              <a:buChar char="●"/>
            </a:pPr>
            <a:r>
              <a:rPr lang="en-GB"/>
              <a:t>A long press of DOWN Key should logout.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